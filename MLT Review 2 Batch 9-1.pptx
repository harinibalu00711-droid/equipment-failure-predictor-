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7" r:id="rId4"/>
    <p:sldId id="272" r:id="rId5"/>
    <p:sldId id="259" r:id="rId6"/>
    <p:sldId id="260" r:id="rId7"/>
    <p:sldId id="277" r:id="rId8"/>
    <p:sldId id="278" r:id="rId9"/>
    <p:sldId id="279" r:id="rId10"/>
    <p:sldId id="263" r:id="rId11"/>
    <p:sldId id="264" r:id="rId12"/>
    <p:sldId id="265" r:id="rId13"/>
    <p:sldId id="276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entury Gothic" panose="020B0502020202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hdJZdTh6LhivS17Fixwb8wrVwp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font" Target="fonts/font5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5" Type="http://customschemas.google.com/relationships/presentationmetadata" Target="metadata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font" Target="fonts/font4.fntdata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font" Target="fonts/font8.fntdata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font" Target="fonts/font7.fntdata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font" Target="fonts/font6.fntdata" /><Relationship Id="rId27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f84bd36e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2df84bd36ed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2df84bd36ed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f84bd36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2df84bd36e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2df84bd36e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1091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f84bd36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2df84bd36e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2df84bd36e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1624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f84bd36e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2df84bd36ed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2df84bd36ed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90bb0f40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190bb0f409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3190bb0f409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90bb0f40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190bb0f409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3190bb0f409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3446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32826aeb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2e32826aebc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g2e32826aebc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6aa4618a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6aa4618a4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f6aa4618a4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aa4618a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6aa4618a4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f6aa4618a4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aa4618a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6aa4618a4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f6aa4618a4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4530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1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2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2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3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body" idx="4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marL="1371600" lvl="2" indent="-3098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marL="1828800" lvl="3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marL="2286000" lvl="4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marL="2743200" lvl="5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marL="3200400" lvl="6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marL="3657600" lvl="7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marL="4114800" lvl="8" indent="-2997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>
            <a:spLocks noGrp="1"/>
          </p:cNvSpPr>
          <p:nvPr>
            <p:ph type="pic" idx="2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anoramic Picture with Caption">
  <p:cSld name="Panoramic Picture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>
            <a:spLocks noGrp="1"/>
          </p:cNvSpPr>
          <p:nvPr>
            <p:ph type="pic" idx="2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72" name="Google Shape;72;p25"/>
          <p:cNvSpPr txBox="1">
            <a:spLocks noGrp="1"/>
          </p:cNvSpPr>
          <p:nvPr>
            <p:ph type="body" idx="1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aption">
  <p:cSld name="Title and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6"/>
          <p:cNvSpPr txBox="1"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with Caption">
  <p:cSld name="Quot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7"/>
          <p:cNvSpPr txBox="1"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body" idx="1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body" idx="2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7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27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lang="en-US" sz="12200" b="0" i="0" u="none" strike="noStrike" cap="non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7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lang="en-US" sz="12200" b="0" i="0" u="none" strike="noStrike" cap="non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ame Card">
  <p:cSld name="Name Card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8"/>
          <p:cNvSpPr txBox="1"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 Column">
  <p:cSld name="3 Colum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9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9"/>
          <p:cNvSpPr txBox="1"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0" name="Google Shape;100;p29"/>
          <p:cNvSpPr txBox="1">
            <a:spLocks noGrp="1"/>
          </p:cNvSpPr>
          <p:nvPr>
            <p:ph type="body" idx="2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1" name="Google Shape;101;p29"/>
          <p:cNvSpPr txBox="1">
            <a:spLocks noGrp="1"/>
          </p:cNvSpPr>
          <p:nvPr>
            <p:ph type="body" idx="3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2" name="Google Shape;102;p29"/>
          <p:cNvSpPr txBox="1">
            <a:spLocks noGrp="1"/>
          </p:cNvSpPr>
          <p:nvPr>
            <p:ph type="body" idx="4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9"/>
          <p:cNvSpPr txBox="1">
            <a:spLocks noGrp="1"/>
          </p:cNvSpPr>
          <p:nvPr>
            <p:ph type="body" idx="5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6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105" name="Google Shape;105;p29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" name="Google Shape;106;p29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7" name="Google Shape;107;p29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 Picture Column">
  <p:cSld name="3 Picture Colum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0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30"/>
          <p:cNvSpPr>
            <a:spLocks noGrp="1"/>
          </p:cNvSpPr>
          <p:nvPr>
            <p:ph type="pic" idx="2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4" name="Google Shape;114;p30"/>
          <p:cNvSpPr txBox="1">
            <a:spLocks noGrp="1"/>
          </p:cNvSpPr>
          <p:nvPr>
            <p:ph type="body" idx="3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4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6" name="Google Shape;116;p30"/>
          <p:cNvSpPr>
            <a:spLocks noGrp="1"/>
          </p:cNvSpPr>
          <p:nvPr>
            <p:ph type="pic" idx="5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17" name="Google Shape;117;p30"/>
          <p:cNvSpPr txBox="1">
            <a:spLocks noGrp="1"/>
          </p:cNvSpPr>
          <p:nvPr>
            <p:ph type="body" idx="6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body" idx="7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86D1D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9" name="Google Shape;119;p30"/>
          <p:cNvSpPr>
            <a:spLocks noGrp="1"/>
          </p:cNvSpPr>
          <p:nvPr>
            <p:ph type="pic" idx="8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0000"/>
              </a:srgbClr>
            </a:outerShdw>
          </a:effectLst>
        </p:spPr>
      </p:sp>
      <p:sp>
        <p:nvSpPr>
          <p:cNvPr id="120" name="Google Shape;120;p30"/>
          <p:cNvSpPr txBox="1">
            <a:spLocks noGrp="1"/>
          </p:cNvSpPr>
          <p:nvPr>
            <p:ph type="body" idx="9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121" name="Google Shape;121;p30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2" name="Google Shape;122;p30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w="12700" cap="flat" cmpd="sng">
            <a:solidFill>
              <a:srgbClr val="86D1D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30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body" idx="1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 txBox="1">
            <a:spLocks noGrp="1"/>
          </p:cNvSpPr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body" idx="1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2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6" Type="http://schemas.openxmlformats.org/officeDocument/2006/relationships/theme" Target="../theme/theme1.xml" /><Relationship Id="rId20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3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17">
            <a:alphaModFix/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5"/>
          <p:cNvPicPr preferRelativeResize="0"/>
          <p:nvPr/>
        </p:nvPicPr>
        <p:blipFill rotWithShape="1">
          <a:blip r:embed="rId18">
            <a:alphaModFix/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3922"/>
                </a:srgbClr>
              </a:gs>
              <a:gs pos="36000">
                <a:srgbClr val="4CB9C3">
                  <a:alpha val="3137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5"/>
          <p:cNvPicPr preferRelativeResize="0"/>
          <p:nvPr/>
        </p:nvPicPr>
        <p:blipFill rotWithShape="1">
          <a:blip r:embed="rId19">
            <a:alphaModFix/>
          </a:blip>
          <a:srcRect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5"/>
          <p:cNvPicPr preferRelativeResize="0"/>
          <p:nvPr/>
        </p:nvPicPr>
        <p:blipFill rotWithShape="1">
          <a:blip r:embed="rId20">
            <a:alphaModFix/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196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5"/>
          <p:cNvSpPr txBox="1"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sz="20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docs.google.com/spreadsheets/d/1vcWvyVcIs3DIC5JHuD9o119dvQgFppdzRyVdBcVUlV8/edit?gid=0#gid=0" TargetMode="External" /><Relationship Id="rId4" Type="http://schemas.openxmlformats.org/officeDocument/2006/relationships/image" Target="../media/image6.jp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>
            <a:spLocks noGrp="1"/>
          </p:cNvSpPr>
          <p:nvPr>
            <p:ph type="ctrTitle"/>
          </p:nvPr>
        </p:nvSpPr>
        <p:spPr>
          <a:xfrm>
            <a:off x="1407166" y="800835"/>
            <a:ext cx="9144000" cy="7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-US" sz="26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RAMAKRISHNAN COLLEGE OF TECHNOLOGY</a:t>
            </a:r>
            <a:br>
              <a:rPr lang="en-US" sz="26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6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(AUTONOMOUS), TIRUCHIRAPALLI</a:t>
            </a:r>
            <a:endParaRPr sz="2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"/>
          <p:cNvSpPr txBox="1"/>
          <p:nvPr/>
        </p:nvSpPr>
        <p:spPr>
          <a:xfrm>
            <a:off x="1118261" y="2149335"/>
            <a:ext cx="9839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– BASED LABORATORY EQUIPMENT FAILURE PREDICTOR      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"/>
          <p:cNvSpPr txBox="1"/>
          <p:nvPr/>
        </p:nvSpPr>
        <p:spPr>
          <a:xfrm>
            <a:off x="10957961" y="6426683"/>
            <a:ext cx="217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1034179" y="3057856"/>
            <a:ext cx="6558294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BY,</a:t>
            </a:r>
            <a:endParaRPr sz="16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HARINI K B                   2503811724322032</a:t>
            </a:r>
          </a:p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HARINI S                        2503811724322033</a:t>
            </a:r>
          </a:p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JAI ADITHIYA R          2503811724321036</a:t>
            </a:r>
          </a:p>
          <a:p>
            <a:pPr marL="0" marR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JEEVA M                        2503811724321037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D09FB6-DE31-4F66-8B77-65D4ED3E3377}"/>
              </a:ext>
            </a:extLst>
          </p:cNvPr>
          <p:cNvSpPr txBox="1"/>
          <p:nvPr/>
        </p:nvSpPr>
        <p:spPr>
          <a:xfrm>
            <a:off x="2396359" y="1574535"/>
            <a:ext cx="7567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AGI1242 – MACHINE LEARNING TECHNIQUES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FFA49-959A-42F4-804F-6DC9D7A05022}"/>
              </a:ext>
            </a:extLst>
          </p:cNvPr>
          <p:cNvSpPr txBox="1"/>
          <p:nvPr/>
        </p:nvSpPr>
        <p:spPr>
          <a:xfrm>
            <a:off x="6526925" y="5273817"/>
            <a:ext cx="5013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GUIDED BY</a:t>
            </a:r>
          </a:p>
          <a:p>
            <a:r>
              <a:rPr lang="en-US" sz="2200" b="1" dirty="0"/>
              <a:t>                 Mrs. </a:t>
            </a:r>
            <a:r>
              <a:rPr lang="en-US" sz="2200" b="1" dirty="0" err="1"/>
              <a:t>M.A.Reetha</a:t>
            </a:r>
            <a:r>
              <a:rPr lang="en-US" sz="2200" b="1" dirty="0"/>
              <a:t> </a:t>
            </a:r>
            <a:r>
              <a:rPr lang="en-US" sz="2200" b="1" dirty="0" err="1"/>
              <a:t>Jeyarani</a:t>
            </a:r>
            <a:r>
              <a:rPr lang="en-US" sz="2200" b="1" dirty="0"/>
              <a:t> </a:t>
            </a:r>
            <a:endParaRPr lang="en-IN" sz="2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f84bd36ed_0_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g2df84bd36ed_0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2df84bd36ed_0_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df84bd36ed_0_7"/>
          <p:cNvSpPr txBox="1"/>
          <p:nvPr/>
        </p:nvSpPr>
        <p:spPr>
          <a:xfrm>
            <a:off x="3065163" y="452725"/>
            <a:ext cx="5514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sz="24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E7802-5308-44D8-95FC-5B4254DBAD1E}"/>
              </a:ext>
            </a:extLst>
          </p:cNvPr>
          <p:cNvSpPr txBox="1"/>
          <p:nvPr/>
        </p:nvSpPr>
        <p:spPr>
          <a:xfrm>
            <a:off x="965200" y="1485900"/>
            <a:ext cx="9934670" cy="465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</a:rPr>
              <a:t>To </a:t>
            </a:r>
            <a:r>
              <a:rPr lang="en-US" sz="1900" dirty="0">
                <a:latin typeface="+mn-lt"/>
              </a:rPr>
              <a:t>predict</a:t>
            </a:r>
            <a:r>
              <a:rPr lang="en-US" sz="2000" dirty="0">
                <a:latin typeface="+mn-lt"/>
              </a:rPr>
              <a:t> laboratory equipment failures using Machine Learning techniques.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</a:rPr>
              <a:t>To analyze equipment details such as age, usage hours, repair history, and maintenance records.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</a:rPr>
              <a:t>To classify equipment into different risk levels such as Low, Medium, and High.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</a:rPr>
              <a:t>To provide early warnings about equipment that may fail in the future.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</a:rPr>
              <a:t>To recommend suitable preventive maintenance actions based on the predicted risk.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</a:rPr>
              <a:t>To reduce unexpected breakdowns, maintenance costs, and equipment downtime.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</a:rPr>
              <a:t>To improve the reliability and efficiency of laboratory operations. 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f84bd36ed_0_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g2df84bd36ed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df84bd36ed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2df84bd36ed_0_0"/>
          <p:cNvSpPr txBox="1"/>
          <p:nvPr/>
        </p:nvSpPr>
        <p:spPr>
          <a:xfrm>
            <a:off x="3654100" y="534338"/>
            <a:ext cx="4491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1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</a:t>
            </a: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</a:t>
            </a:r>
            <a:endParaRPr sz="21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g2df84bd36ed_0_0"/>
          <p:cNvSpPr txBox="1"/>
          <p:nvPr/>
        </p:nvSpPr>
        <p:spPr>
          <a:xfrm>
            <a:off x="503500" y="1531200"/>
            <a:ext cx="11481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247650" lvl="0" indent="0" algn="just" rtl="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7FDFEA-6B82-471E-A29A-B2269F1EA3DE}"/>
              </a:ext>
            </a:extLst>
          </p:cNvPr>
          <p:cNvSpPr txBox="1"/>
          <p:nvPr/>
        </p:nvSpPr>
        <p:spPr>
          <a:xfrm>
            <a:off x="5638800" y="288508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04A6FC-6D22-4A5A-8E75-01288DBA909C}"/>
              </a:ext>
            </a:extLst>
          </p:cNvPr>
          <p:cNvSpPr txBox="1"/>
          <p:nvPr/>
        </p:nvSpPr>
        <p:spPr>
          <a:xfrm>
            <a:off x="1022281" y="1531200"/>
            <a:ext cx="10008974" cy="4331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145D6-6BBD-47BF-8792-5BE386F3E0B4}"/>
              </a:ext>
            </a:extLst>
          </p:cNvPr>
          <p:cNvSpPr txBox="1"/>
          <p:nvPr/>
        </p:nvSpPr>
        <p:spPr>
          <a:xfrm>
            <a:off x="5638800" y="288508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600BD3-78A6-409E-9067-E0E135F8A6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56744" y="1089937"/>
            <a:ext cx="10433996" cy="4005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Laboratory equipment can fail unexpectedly due to overuse, aging, and poor maintenance.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Manual monitoring makes it difficult to identify early signs of equipment failure.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Unexpected breakdowns can cause delays, increased maintenance costs, and data loss.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Laboratories often lack an automated system to predict equipment failure risk.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Therefore, an AI-based prediction system is needed for early detection and preventive maintenance. </a:t>
            </a:r>
          </a:p>
        </p:txBody>
      </p:sp>
    </p:spTree>
    <p:extLst>
      <p:ext uri="{BB962C8B-B14F-4D97-AF65-F5344CB8AC3E}">
        <p14:creationId xmlns:p14="http://schemas.microsoft.com/office/powerpoint/2010/main" val="98514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df84bd36ed_0_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g2df84bd36ed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2df84bd36ed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2df84bd36ed_0_0"/>
          <p:cNvSpPr txBox="1"/>
          <p:nvPr/>
        </p:nvSpPr>
        <p:spPr>
          <a:xfrm>
            <a:off x="3654100" y="450255"/>
            <a:ext cx="4491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</a:t>
            </a:r>
            <a:endParaRPr sz="21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7FDFEA-6B82-471E-A29A-B2269F1EA3DE}"/>
              </a:ext>
            </a:extLst>
          </p:cNvPr>
          <p:cNvSpPr txBox="1"/>
          <p:nvPr/>
        </p:nvSpPr>
        <p:spPr>
          <a:xfrm>
            <a:off x="5638800" y="288508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145D6-6BBD-47BF-8792-5BE386F3E0B4}"/>
              </a:ext>
            </a:extLst>
          </p:cNvPr>
          <p:cNvSpPr txBox="1"/>
          <p:nvPr/>
        </p:nvSpPr>
        <p:spPr>
          <a:xfrm>
            <a:off x="5638800" y="288508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600BD3-78A6-409E-9067-E0E135F8A6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37900" y="2793068"/>
            <a:ext cx="104339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A5566B-0B89-4B3C-B8CE-F083E17CAFE7}"/>
              </a:ext>
            </a:extLst>
          </p:cNvPr>
          <p:cNvSpPr/>
          <p:nvPr/>
        </p:nvSpPr>
        <p:spPr>
          <a:xfrm>
            <a:off x="3736910" y="2669313"/>
            <a:ext cx="4340773" cy="5655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2.MACHINE LEARNING MODEL</a:t>
            </a:r>
            <a:endParaRPr lang="en-IN" sz="1800" b="1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CC9043D-66A4-40A9-BF9A-AB2CB7E1C822}"/>
              </a:ext>
            </a:extLst>
          </p:cNvPr>
          <p:cNvSpPr/>
          <p:nvPr/>
        </p:nvSpPr>
        <p:spPr>
          <a:xfrm>
            <a:off x="3810386" y="1788351"/>
            <a:ext cx="4340773" cy="5655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1.INPUT EQUIPMENT DATA</a:t>
            </a:r>
            <a:endParaRPr lang="en-IN" sz="1800" b="1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F57FC4D-7FC6-499E-B884-34B0CEA925F3}"/>
              </a:ext>
            </a:extLst>
          </p:cNvPr>
          <p:cNvSpPr/>
          <p:nvPr/>
        </p:nvSpPr>
        <p:spPr>
          <a:xfrm>
            <a:off x="3805226" y="3524255"/>
            <a:ext cx="4340773" cy="5655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3.PREDICT FAILURE RISK</a:t>
            </a:r>
            <a:endParaRPr lang="en-IN" sz="1800" b="1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E7C8C93-DCEB-4141-9C7B-76C6B9D95272}"/>
              </a:ext>
            </a:extLst>
          </p:cNvPr>
          <p:cNvSpPr/>
          <p:nvPr/>
        </p:nvSpPr>
        <p:spPr>
          <a:xfrm>
            <a:off x="3805226" y="4484559"/>
            <a:ext cx="4340773" cy="5655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4.DASHBOARD OUTPUT</a:t>
            </a:r>
            <a:endParaRPr lang="en-IN" sz="1800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46FD530-B20B-4863-9298-793A7CF6297D}"/>
              </a:ext>
            </a:extLst>
          </p:cNvPr>
          <p:cNvSpPr/>
          <p:nvPr/>
        </p:nvSpPr>
        <p:spPr>
          <a:xfrm>
            <a:off x="3805226" y="5351578"/>
            <a:ext cx="4340773" cy="6154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5.PREVENTIVE MAINTENANCE</a:t>
            </a:r>
            <a:endParaRPr lang="en-IN" sz="1800" b="1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EB738603-C0CD-4B5D-BFA9-3426B99A732F}"/>
              </a:ext>
            </a:extLst>
          </p:cNvPr>
          <p:cNvSpPr/>
          <p:nvPr/>
        </p:nvSpPr>
        <p:spPr>
          <a:xfrm>
            <a:off x="5733297" y="2377985"/>
            <a:ext cx="484632" cy="2700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99D83D74-7CA4-42BC-822A-14623E5588D8}"/>
              </a:ext>
            </a:extLst>
          </p:cNvPr>
          <p:cNvSpPr/>
          <p:nvPr/>
        </p:nvSpPr>
        <p:spPr>
          <a:xfrm>
            <a:off x="5749543" y="3234881"/>
            <a:ext cx="484632" cy="2700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3DCCDED9-88E1-428B-96F5-FCFEE74E18E1}"/>
              </a:ext>
            </a:extLst>
          </p:cNvPr>
          <p:cNvSpPr/>
          <p:nvPr/>
        </p:nvSpPr>
        <p:spPr>
          <a:xfrm>
            <a:off x="5781654" y="4115822"/>
            <a:ext cx="484632" cy="342738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CE23655F-17B1-45DC-9338-8EB8D1EFC750}"/>
              </a:ext>
            </a:extLst>
          </p:cNvPr>
          <p:cNvSpPr/>
          <p:nvPr/>
        </p:nvSpPr>
        <p:spPr>
          <a:xfrm>
            <a:off x="5781654" y="5081578"/>
            <a:ext cx="484632" cy="2700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92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f84bd36ed_0_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Google Shape;174;g2df84bd36ed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df84bd36ed_0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df84bd36ed_0_14"/>
          <p:cNvSpPr txBox="1"/>
          <p:nvPr/>
        </p:nvSpPr>
        <p:spPr>
          <a:xfrm>
            <a:off x="3799650" y="402525"/>
            <a:ext cx="4592700" cy="666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9EBC9B-B213-4199-90AC-3E949B7F283B}"/>
              </a:ext>
            </a:extLst>
          </p:cNvPr>
          <p:cNvSpPr txBox="1"/>
          <p:nvPr/>
        </p:nvSpPr>
        <p:spPr>
          <a:xfrm>
            <a:off x="-1315470" y="488731"/>
            <a:ext cx="10857186" cy="4698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0D3575-1427-43DE-8D3B-35B7AD0E9628}"/>
              </a:ext>
            </a:extLst>
          </p:cNvPr>
          <p:cNvSpPr txBox="1"/>
          <p:nvPr/>
        </p:nvSpPr>
        <p:spPr>
          <a:xfrm>
            <a:off x="5638800" y="297442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A8769-F351-4674-96A8-30C726C61C58}"/>
              </a:ext>
            </a:extLst>
          </p:cNvPr>
          <p:cNvSpPr txBox="1"/>
          <p:nvPr/>
        </p:nvSpPr>
        <p:spPr>
          <a:xfrm>
            <a:off x="6096000" y="3429000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5060F4-6C49-4B99-841C-964A15AF8310}"/>
              </a:ext>
            </a:extLst>
          </p:cNvPr>
          <p:cNvSpPr txBox="1"/>
          <p:nvPr/>
        </p:nvSpPr>
        <p:spPr>
          <a:xfrm rot="10800000" flipH="1" flipV="1">
            <a:off x="2911930" y="2656804"/>
            <a:ext cx="6870203" cy="707886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- BASED LABORATORY EQUIPMENT FAILURE PREDICTOR - Google Sheets</a:t>
            </a:r>
            <a:endParaRPr lang="en-IN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90bb0f409_0_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g3190bb0f409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190bb0f409_0_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190bb0f409_0_16"/>
          <p:cNvSpPr txBox="1"/>
          <p:nvPr/>
        </p:nvSpPr>
        <p:spPr>
          <a:xfrm>
            <a:off x="3184635" y="215992"/>
            <a:ext cx="5696606" cy="666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AA571B-9CA0-4A99-B0A1-8F3A5B16F06A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8CBA36-5FD8-43E4-A8B3-E9777C5BA3ED}"/>
              </a:ext>
            </a:extLst>
          </p:cNvPr>
          <p:cNvSpPr txBox="1"/>
          <p:nvPr/>
        </p:nvSpPr>
        <p:spPr>
          <a:xfrm>
            <a:off x="1422399" y="1651000"/>
            <a:ext cx="9268681" cy="419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B6D510-4028-47A0-83E7-953A764C64D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92206" y="1096682"/>
            <a:ext cx="9268681" cy="4544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+mn-lt"/>
              </a:rPr>
              <a:t>1</a:t>
            </a:r>
            <a:r>
              <a:rPr lang="en-US" sz="2100" b="1" dirty="0">
                <a:latin typeface="+mj-lt"/>
              </a:rPr>
              <a:t>.Random Forest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Random Forest uses multiple Decision Trees to make predictions.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It analyzes equipment age, usage hours, repair history, and maintenance records.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The combined results predict the equipment's failure risk level.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It is accurate and reduces overfitting.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+mn-lt"/>
              </a:rPr>
              <a:t>2</a:t>
            </a:r>
            <a:r>
              <a:rPr lang="en-US" sz="2100" b="1" dirty="0">
                <a:latin typeface="+mj-lt"/>
              </a:rPr>
              <a:t>. Logistic Regression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dirty="0">
                <a:latin typeface="+mn-lt"/>
              </a:rPr>
              <a:t>Logistic Regression is used to predict the probability of equipment failure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90bb0f409_0_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g3190bb0f409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190bb0f409_0_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190bb0f409_0_16"/>
          <p:cNvSpPr txBox="1"/>
          <p:nvPr/>
        </p:nvSpPr>
        <p:spPr>
          <a:xfrm>
            <a:off x="3184635" y="215992"/>
            <a:ext cx="5696606" cy="666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AA571B-9CA0-4A99-B0A1-8F3A5B16F06A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8CBA36-5FD8-43E4-A8B3-E9777C5BA3ED}"/>
              </a:ext>
            </a:extLst>
          </p:cNvPr>
          <p:cNvSpPr txBox="1"/>
          <p:nvPr/>
        </p:nvSpPr>
        <p:spPr>
          <a:xfrm rot="10800000" flipV="1">
            <a:off x="872359" y="3245152"/>
            <a:ext cx="9857980" cy="2366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latin typeface="+mj-lt"/>
              </a:rPr>
              <a:t>3.Support Vector Machine (SVM)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SVM classifies equipment based on its failure-related characteristics.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It finds the best boundary between different risk categories.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It can handle complex equipment data effectively.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It can be used to classify equipment into safe and failure-risk categories.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B6D510-4028-47A0-83E7-953A764C64D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42646" y="3452911"/>
            <a:ext cx="8262476" cy="804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50000"/>
              </a:lnSpc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E65A7A-08BD-4C03-BCC9-4A91108BDCC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4251" y="1274762"/>
            <a:ext cx="10868440" cy="1697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It analyzes the relationship between equipment parameters and previous failures.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output can be converted into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Low, Medium, or High risk.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It is simple and easy to interpret. </a:t>
            </a:r>
          </a:p>
        </p:txBody>
      </p:sp>
    </p:spTree>
    <p:extLst>
      <p:ext uri="{BB962C8B-B14F-4D97-AF65-F5344CB8AC3E}">
        <p14:creationId xmlns:p14="http://schemas.microsoft.com/office/powerpoint/2010/main" val="381906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aa4618a4_0_12"/>
          <p:cNvSpPr txBox="1">
            <a:spLocks noGrp="1"/>
          </p:cNvSpPr>
          <p:nvPr>
            <p:ph type="body" idx="1"/>
          </p:nvPr>
        </p:nvSpPr>
        <p:spPr>
          <a:xfrm>
            <a:off x="2000000" y="340875"/>
            <a:ext cx="8192000" cy="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COMPARISON</a:t>
            </a:r>
            <a:endParaRPr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3f6aa4618a4_0_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18" name="Google Shape;218;g3f6aa4618a4_0_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f6aa4618a4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: Rounded Corners 1"/>
          <p:cNvSpPr/>
          <p:nvPr/>
        </p:nvSpPr>
        <p:spPr>
          <a:xfrm>
            <a:off x="896000" y="1450000"/>
            <a:ext cx="3300000" cy="650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RANDOM FOREST</a:t>
            </a:r>
          </a:p>
        </p:txBody>
      </p:sp>
      <p:sp>
        <p:nvSpPr>
          <p:cNvPr id="11" name="Rectangle: Rounded Corners 2"/>
          <p:cNvSpPr/>
          <p:nvPr/>
        </p:nvSpPr>
        <p:spPr>
          <a:xfrm>
            <a:off x="896000" y="2200000"/>
            <a:ext cx="3300000" cy="3500000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37160" tIns="91440" rIns="91440" bIns="91440" rtlCol="0" anchor="t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Uses many decision trees together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Gives accurate results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Shows important factors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Handles mixed data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Takes more time to understand</a:t>
            </a:r>
          </a:p>
        </p:txBody>
      </p:sp>
      <p:sp>
        <p:nvSpPr>
          <p:cNvPr id="12" name="Rectangle: Rounded Corners 3"/>
          <p:cNvSpPr/>
          <p:nvPr/>
        </p:nvSpPr>
        <p:spPr>
          <a:xfrm>
            <a:off x="4446000" y="1450000"/>
            <a:ext cx="3300000" cy="650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LOGISTIC REGRESSION</a:t>
            </a:r>
          </a:p>
        </p:txBody>
      </p:sp>
      <p:sp>
        <p:nvSpPr>
          <p:cNvPr id="13" name="Rectangle: Rounded Corners 4"/>
          <p:cNvSpPr/>
          <p:nvPr/>
        </p:nvSpPr>
        <p:spPr>
          <a:xfrm>
            <a:off x="4446000" y="2200000"/>
            <a:ext cx="3300000" cy="3500000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37160" tIns="91440" rIns="91440" bIns="91440" rtlCol="0" anchor="t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Simple and fast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Easy to understand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Shows chance of failure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Good starting model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Works best for simple data</a:t>
            </a:r>
          </a:p>
        </p:txBody>
      </p:sp>
      <p:sp>
        <p:nvSpPr>
          <p:cNvPr id="14" name="Rectangle: Rounded Corners 5"/>
          <p:cNvSpPr/>
          <p:nvPr/>
        </p:nvSpPr>
        <p:spPr>
          <a:xfrm>
            <a:off x="7996000" y="1450000"/>
            <a:ext cx="3300000" cy="650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SVM</a:t>
            </a:r>
          </a:p>
        </p:txBody>
      </p:sp>
      <p:sp>
        <p:nvSpPr>
          <p:cNvPr id="15" name="Rectangle: Rounded Corners 6"/>
          <p:cNvSpPr/>
          <p:nvPr/>
        </p:nvSpPr>
        <p:spPr>
          <a:xfrm>
            <a:off x="7996000" y="2200000"/>
            <a:ext cx="3300000" cy="3500000"/>
          </a:xfrm>
          <a:prstGeom prst="roundRect">
            <a:avLst>
              <a:gd name="adj" fmla="val 6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37160" tIns="91440" rIns="91440" bIns="91440" rtlCol="0" anchor="t">
            <a:no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Works well on small data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Can handle complex data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Finds the best boundary between risk levels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Slow on very large data</a:t>
            </a: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800" dirty="0">
                <a:latin typeface="+mn-lt"/>
              </a:rPr>
              <a:t>Needs careful setting 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aa4618a4_0_12"/>
          <p:cNvSpPr txBox="1">
            <a:spLocks noGrp="1"/>
          </p:cNvSpPr>
          <p:nvPr>
            <p:ph type="body" idx="1"/>
          </p:nvPr>
        </p:nvSpPr>
        <p:spPr>
          <a:xfrm>
            <a:off x="2000000" y="340875"/>
            <a:ext cx="8192000" cy="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IMPLEMENTATION</a:t>
            </a:r>
            <a:endParaRPr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3f6aa4618a4_0_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18" name="Google Shape;218;g3f6aa4618a4_0_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f6aa4618a4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000000" y="1450000"/>
            <a:ext cx="10192000" cy="4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+mn-lt"/>
              </a:rPr>
              <a:t>1. Collect Data: </a:t>
            </a:r>
            <a:r>
              <a:rPr lang="en-US" sz="2000" dirty="0">
                <a:latin typeface="+mn-lt"/>
              </a:rPr>
              <a:t>Age, usage hours and repair details of equipment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+mn-lt"/>
              </a:rPr>
              <a:t>2. Prepare Data: </a:t>
            </a:r>
            <a:r>
              <a:rPr lang="en-US" sz="2000" dirty="0">
                <a:latin typeface="+mn-lt"/>
              </a:rPr>
              <a:t>Clean the data and split it for training and testing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+mn-lt"/>
              </a:rPr>
              <a:t>3. Train Models: </a:t>
            </a:r>
            <a:r>
              <a:rPr lang="en-US" sz="2000" dirty="0">
                <a:latin typeface="+mn-lt"/>
              </a:rPr>
              <a:t>Teach Random Forest, Logistic Regression and SVM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+mn-lt"/>
              </a:rPr>
              <a:t>4. Check Results: </a:t>
            </a:r>
            <a:r>
              <a:rPr lang="en-US" sz="2000" dirty="0">
                <a:latin typeface="+mn-lt"/>
              </a:rPr>
              <a:t>Compare how accurate each model is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+mn-lt"/>
              </a:rPr>
              <a:t>5. Choose Best Model: </a:t>
            </a:r>
            <a:r>
              <a:rPr lang="en-US" sz="2000" dirty="0">
                <a:latin typeface="+mn-lt"/>
              </a:rPr>
              <a:t>Use the model with the best result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+mn-lt"/>
              </a:rPr>
              <a:t>6. Build Website: </a:t>
            </a:r>
            <a:r>
              <a:rPr lang="en-US" sz="2000" dirty="0">
                <a:latin typeface="+mn-lt"/>
              </a:rPr>
              <a:t>Create a simple website with a dashboard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+mn-lt"/>
              </a:rPr>
              <a:t>7. Predict Risk: </a:t>
            </a:r>
            <a:r>
              <a:rPr lang="en-US" sz="2000" dirty="0">
                <a:latin typeface="+mn-lt"/>
              </a:rPr>
              <a:t>Show Low, Medium or High risk for each equipment</a:t>
            </a: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+mn-lt"/>
              </a:rPr>
              <a:t>8. Give Alerts: </a:t>
            </a:r>
            <a:r>
              <a:rPr lang="en-US" sz="2000" dirty="0">
                <a:latin typeface="+mn-lt"/>
              </a:rPr>
              <a:t>Warn about risky equipment and suggest maintenance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32826aebc_0_4"/>
          <p:cNvSpPr txBox="1"/>
          <p:nvPr/>
        </p:nvSpPr>
        <p:spPr>
          <a:xfrm>
            <a:off x="2000000" y="300000"/>
            <a:ext cx="8192000" cy="68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sz="25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g2e32826aebc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2e32826aebc_0_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60951A-4A41-43ED-96BB-215AFDBC9771}"/>
              </a:ext>
            </a:extLst>
          </p:cNvPr>
          <p:cNvSpPr txBox="1"/>
          <p:nvPr/>
        </p:nvSpPr>
        <p:spPr>
          <a:xfrm>
            <a:off x="5638800" y="2974427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3618D4-6BA9-45BD-8E7D-D7AA09FBB13A}"/>
              </a:ext>
            </a:extLst>
          </p:cNvPr>
          <p:cNvSpPr txBox="1"/>
          <p:nvPr/>
        </p:nvSpPr>
        <p:spPr>
          <a:xfrm>
            <a:off x="945931" y="1726696"/>
            <a:ext cx="10562897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b="1" dirty="0">
                <a:latin typeface="+mj-lt"/>
              </a:rPr>
              <a:t>1. Equipment Registration Module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Stores equipment name, ID, type, and age.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Records usage hours and operating details.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Allows staff to add, update, and view equipment information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+mj-lt"/>
              </a:rPr>
              <a:t>2</a:t>
            </a:r>
            <a:r>
              <a:rPr lang="en-US" sz="2100" dirty="0">
                <a:latin typeface="+mj-lt"/>
              </a:rPr>
              <a:t>. </a:t>
            </a:r>
            <a:r>
              <a:rPr lang="en-US" sz="2100" b="1" dirty="0">
                <a:latin typeface="+mj-lt"/>
              </a:rPr>
              <a:t>Maintenance History Module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Stores previous repair and maintenance records.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Tracks service dates and equipment problems.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Helps identify repeated maintenance patterns.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+mn-lt"/>
            </a:endParaRPr>
          </a:p>
        </p:txBody>
      </p:sp>
      <p:sp>
        <p:nvSpPr>
          <p:cNvPr id="9001" name="Google Shape;217;g3f6aa4618a4_0_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aa4618a4_0_12"/>
          <p:cNvSpPr txBox="1">
            <a:spLocks noGrp="1"/>
          </p:cNvSpPr>
          <p:nvPr>
            <p:ph type="body" idx="1"/>
          </p:nvPr>
        </p:nvSpPr>
        <p:spPr>
          <a:xfrm>
            <a:off x="2000000" y="340875"/>
            <a:ext cx="8192000" cy="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g3f6aa4618a4_0_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18" name="Google Shape;218;g3f6aa4618a4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f6aa4618a4_0_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F0B3AA-76D8-4C16-A695-594B7E98B562}"/>
              </a:ext>
            </a:extLst>
          </p:cNvPr>
          <p:cNvSpPr txBox="1"/>
          <p:nvPr/>
        </p:nvSpPr>
        <p:spPr>
          <a:xfrm>
            <a:off x="1397875" y="1671145"/>
            <a:ext cx="9456299" cy="4074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+mj-lt"/>
              </a:rPr>
              <a:t>3. AI Failure Prediction Module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Analyzes equipment data using Machine Learning.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Uses </a:t>
            </a:r>
            <a:r>
              <a:rPr lang="en-US" sz="2000" b="1" dirty="0">
                <a:latin typeface="+mn-lt"/>
              </a:rPr>
              <a:t>Random Forest</a:t>
            </a:r>
            <a:r>
              <a:rPr lang="en-US" sz="2000" dirty="0">
                <a:latin typeface="+mn-lt"/>
              </a:rPr>
              <a:t> to predict failure probability.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Classifies equipment into different risk levels. </a:t>
            </a:r>
          </a:p>
          <a:p>
            <a:pPr>
              <a:lnSpc>
                <a:spcPct val="150000"/>
              </a:lnSpc>
            </a:pPr>
            <a:r>
              <a:rPr lang="en-US" sz="2100" b="1" dirty="0"/>
              <a:t>4</a:t>
            </a:r>
            <a:r>
              <a:rPr lang="en-US" sz="2100" b="1" dirty="0">
                <a:latin typeface="+mj-lt"/>
              </a:rPr>
              <a:t>. Risk Monitoring &amp; Alert Module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Displays </a:t>
            </a:r>
            <a:r>
              <a:rPr lang="en-US" sz="2000" b="1" dirty="0">
                <a:latin typeface="+mn-lt"/>
              </a:rPr>
              <a:t>Low, Medium, and High</a:t>
            </a:r>
            <a:r>
              <a:rPr lang="en-US" sz="2000" dirty="0">
                <a:latin typeface="+mn-lt"/>
              </a:rPr>
              <a:t> risk conditions.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Generates alerts for high-risk equipment.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Helps staff take action before unexpected failure.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aa4618a4_0_20"/>
          <p:cNvSpPr txBox="1">
            <a:spLocks noGrp="1"/>
          </p:cNvSpPr>
          <p:nvPr>
            <p:ph type="body" idx="1"/>
          </p:nvPr>
        </p:nvSpPr>
        <p:spPr>
          <a:xfrm>
            <a:off x="2000000" y="340875"/>
            <a:ext cx="8192000" cy="860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g3f6aa4618a4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f6aa4618a4_0_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504576-345F-4F30-8547-310AFDE5CDAB}"/>
              </a:ext>
            </a:extLst>
          </p:cNvPr>
          <p:cNvSpPr txBox="1"/>
          <p:nvPr/>
        </p:nvSpPr>
        <p:spPr>
          <a:xfrm>
            <a:off x="1355834" y="2017986"/>
            <a:ext cx="9314227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+mj-lt"/>
              </a:rPr>
              <a:t>5. Maintenance Recommendation Module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Provides maintenance suggestions based on risk level.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Helps schedule preventive maintenance.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Reduces equipment downtime and unexpected breakdowns. </a:t>
            </a:r>
          </a:p>
          <a:p>
            <a:endParaRPr lang="en-US" sz="2000" dirty="0">
              <a:latin typeface="+mn-lt"/>
            </a:endParaRPr>
          </a:p>
        </p:txBody>
      </p:sp>
      <p:sp>
        <p:nvSpPr>
          <p:cNvPr id="9001" name="Google Shape;217;g3f6aa4618a4_0_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aa4618a4_0_20"/>
          <p:cNvSpPr txBox="1">
            <a:spLocks noGrp="1"/>
          </p:cNvSpPr>
          <p:nvPr>
            <p:ph type="body" idx="1"/>
          </p:nvPr>
        </p:nvSpPr>
        <p:spPr>
          <a:xfrm>
            <a:off x="4319752" y="211639"/>
            <a:ext cx="4046481" cy="860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lang="en-US"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g3f6aa4618a4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f6aa4618a4_0_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504576-345F-4F30-8547-310AFDE5CDAB}"/>
              </a:ext>
            </a:extLst>
          </p:cNvPr>
          <p:cNvSpPr txBox="1"/>
          <p:nvPr/>
        </p:nvSpPr>
        <p:spPr>
          <a:xfrm>
            <a:off x="1061546" y="1471448"/>
            <a:ext cx="960851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The AI-Based Laboratory Equipment Failure Predictor helps identify equipment that may fail in the future.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Machine Learning algorithms analyze equipment age, usage, repair, and maintenance history to predict failure risk.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The system provides Low, Medium, and High risk levels through a simple dashboard.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Early alerts and maintenance recommendations help reduce unexpected breakdowns and downtime.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Overall, the system improves equipment reliability, maintenance planning, and laboratory efficiency. </a:t>
            </a:r>
          </a:p>
          <a:p>
            <a:endParaRPr lang="en-US" sz="2000" dirty="0">
              <a:latin typeface="+mn-lt"/>
            </a:endParaRPr>
          </a:p>
        </p:txBody>
      </p:sp>
      <p:sp>
        <p:nvSpPr>
          <p:cNvPr id="9001" name="Google Shape;217;g3f6aa4618a4_0_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250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>
            <a:spLocks noGrp="1"/>
          </p:cNvSpPr>
          <p:nvPr>
            <p:ph type="body" idx="1"/>
          </p:nvPr>
        </p:nvSpPr>
        <p:spPr>
          <a:xfrm>
            <a:off x="3274450" y="2943326"/>
            <a:ext cx="4980000" cy="17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464" y="241349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91081" y="2366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"/>
          <p:cNvSpPr txBox="1"/>
          <p:nvPr/>
        </p:nvSpPr>
        <p:spPr>
          <a:xfrm>
            <a:off x="219075" y="6453188"/>
            <a:ext cx="990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10957961" y="6426683"/>
            <a:ext cx="43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650</Words>
  <Application>Microsoft Office PowerPoint</Application>
  <PresentationFormat>Widescreen</PresentationFormat>
  <Paragraphs>104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Ion</vt:lpstr>
      <vt:lpstr>K. RAMAKRISHNAN COLLEGE OF TECHNOLOGY (AUTONOMOUS), TIRUCHIRAPALLI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K. RAMAKRISHNAN COLLEGE OF TECHNOLOGY (AUTONOMOUS), TIRUCHIRAPALLI</dc:title>
  <dc:creator>Rahini</dc:creator>
  <cp:lastModifiedBy>Harini balu</cp:lastModifiedBy>
  <cp:revision>33</cp:revision>
  <dcterms:created xsi:type="dcterms:W3CDTF">2024-02-06T09:37:00Z</dcterms:created>
  <dcterms:modified xsi:type="dcterms:W3CDTF">2026-10-04T13:43:45Z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49F7CAB07F0746DF982BF93406825009_12</vt:lpwstr>
  </property>
  <property fmtid="{D5CDD505-2E9C-101B-9397-08002B2CF9AE}" pid="3" name="KSOProductBuildVer">
    <vt:lpwstr>1033-12.2.0.13431</vt:lpwstr>
  </property>
</Properties>
</file>